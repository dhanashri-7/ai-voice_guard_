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63" r:id="rId4"/>
    <p:sldId id="264" r:id="rId5"/>
    <p:sldId id="259" r:id="rId6"/>
    <p:sldId id="260" r:id="rId7"/>
    <p:sldId id="266" r:id="rId8"/>
  </p:sldIdLst>
  <p:sldSz cx="18288000" cy="10287000"/>
  <p:notesSz cx="6858000" cy="9144000"/>
  <p:embeddedFontLst>
    <p:embeddedFont>
      <p:font typeface="CanvaSansSC-Regular" panose="020B0604020202020204" charset="-128"/>
      <p:regular r:id="rId10"/>
    </p:embeddedFont>
    <p:embeddedFont>
      <p:font typeface="Arimo Bold" panose="020B0604020202020204" charset="0"/>
      <p:regular r:id="rId11"/>
    </p:embeddedFont>
    <p:embeddedFont>
      <p:font typeface="Garamond Bold" panose="02020804030307010803" pitchFamily="18" charset="0"/>
      <p:regular r:id="rId12"/>
      <p:bold r:id="rId13"/>
    </p:embeddedFont>
    <p:embeddedFont>
      <p:font typeface="Times New Roman Bold" panose="02020803070505020304" pitchFamily="18" charset="0"/>
      <p:bold r:id="rId14"/>
    </p:embeddedFont>
    <p:embeddedFont>
      <p:font typeface="Times New Roman MT" panose="020B0604020202020204" charset="0"/>
      <p:regular r:id="rId15"/>
    </p:embeddedFont>
    <p:embeddedFont>
      <p:font typeface="Times New Roman MT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D915AF"/>
    <a:srgbClr val="89E189"/>
    <a:srgbClr val="80EAB8"/>
    <a:srgbClr val="D050CA"/>
    <a:srgbClr val="4DC6D3"/>
    <a:srgbClr val="D74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0480CA-BF14-46AE-B0A5-A5B5A3DB5430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F1E71B-341C-4844-BC83-925AA49AE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42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1E71B-341C-4844-BC83-925AA49AE1A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709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1E71B-341C-4844-BC83-925AA49AE1A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861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1E71B-341C-4844-BC83-925AA49AE1A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3561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9/26/2026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9/26/2026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hyperlink" Target="https://github.com/Dhanashri-7/AI-Voice_Guard_" TargetMode="External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sv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rxiv.org/abs/2109.00537?utm_source=gemini" TargetMode="External"/><Relationship Id="rId4" Type="http://schemas.openxmlformats.org/officeDocument/2006/relationships/hyperlink" Target="https://arxiv.org/abs/2107.12710?utm_source=gemini" TargetMode="External"/><Relationship Id="rId5" Type="http://schemas.openxmlformats.org/officeDocument/2006/relationships/hyperlink" Target="https://arxiv.org/abs/2006.11477?utm_source=gemini" TargetMode="External"/><Relationship Id="rId6" Type="http://schemas.openxmlformats.org/officeDocument/2006/relationships/hyperlink" Target="https://www.cert-in.org.in/?utm_source=gemini" TargetMode="External"/><Relationship Id="rId7" Type="http://schemas.openxmlformats.org/officeDocument/2006/relationships/hyperlink" Target="https://www.google.com/search?q=https://www.rbi.org.in/&amp;utm_source=gemini" TargetMode="External"/><Relationship Id="rId8" Type="http://schemas.openxmlformats.org/officeDocument/2006/relationships/image" Target="../media/image2.png"/><Relationship Id="rId9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85222" y="1277283"/>
            <a:ext cx="6953021" cy="7734300"/>
            <a:chOff x="0" y="0"/>
            <a:chExt cx="6953021" cy="7734300"/>
          </a:xfrm>
        </p:grpSpPr>
        <p:sp>
          <p:nvSpPr>
            <p:cNvPr id="3" name="Freeform 3"/>
            <p:cNvSpPr/>
            <p:nvPr/>
          </p:nvSpPr>
          <p:spPr>
            <a:xfrm>
              <a:off x="-63" y="0"/>
              <a:ext cx="6952960" cy="7734301"/>
            </a:xfrm>
            <a:custGeom>
              <a:avLst/>
              <a:gdLst/>
              <a:ahLst/>
              <a:cxnLst/>
              <a:rect l="l" t="t" r="r" b="b"/>
              <a:pathLst>
                <a:path w="6952960" h="7734301">
                  <a:moveTo>
                    <a:pt x="408368" y="4688967"/>
                  </a:moveTo>
                  <a:cubicBezTo>
                    <a:pt x="408368" y="4688967"/>
                    <a:pt x="408368" y="4688967"/>
                    <a:pt x="1009966" y="4688967"/>
                  </a:cubicBezTo>
                  <a:cubicBezTo>
                    <a:pt x="1047685" y="4688967"/>
                    <a:pt x="1084007" y="4716653"/>
                    <a:pt x="1102168" y="4761611"/>
                  </a:cubicBezTo>
                  <a:cubicBezTo>
                    <a:pt x="1102168" y="4761611"/>
                    <a:pt x="1102168" y="4761611"/>
                    <a:pt x="1403666" y="5454396"/>
                  </a:cubicBezTo>
                  <a:cubicBezTo>
                    <a:pt x="1423224" y="5497576"/>
                    <a:pt x="1423224" y="5552948"/>
                    <a:pt x="1403666" y="5596128"/>
                  </a:cubicBezTo>
                  <a:cubicBezTo>
                    <a:pt x="1403666" y="5596128"/>
                    <a:pt x="1403666" y="5596128"/>
                    <a:pt x="1102168" y="6288913"/>
                  </a:cubicBezTo>
                  <a:cubicBezTo>
                    <a:pt x="1084007" y="6333744"/>
                    <a:pt x="1047685" y="6361557"/>
                    <a:pt x="1009966" y="6361557"/>
                  </a:cubicBezTo>
                  <a:cubicBezTo>
                    <a:pt x="1009966" y="6361557"/>
                    <a:pt x="1009966" y="6361557"/>
                    <a:pt x="408368" y="6361557"/>
                  </a:cubicBezTo>
                  <a:cubicBezTo>
                    <a:pt x="369379" y="6361557"/>
                    <a:pt x="334327" y="6333871"/>
                    <a:pt x="314769" y="6288913"/>
                  </a:cubicBezTo>
                  <a:cubicBezTo>
                    <a:pt x="314769" y="6288913"/>
                    <a:pt x="314769" y="6288913"/>
                    <a:pt x="14668" y="5596128"/>
                  </a:cubicBezTo>
                  <a:cubicBezTo>
                    <a:pt x="-4890" y="5552948"/>
                    <a:pt x="-4890" y="5497576"/>
                    <a:pt x="14668" y="5454396"/>
                  </a:cubicBezTo>
                  <a:cubicBezTo>
                    <a:pt x="14668" y="5454396"/>
                    <a:pt x="14668" y="5454396"/>
                    <a:pt x="314769" y="4761611"/>
                  </a:cubicBezTo>
                  <a:cubicBezTo>
                    <a:pt x="334327" y="4716780"/>
                    <a:pt x="369252" y="4688967"/>
                    <a:pt x="408368" y="4688967"/>
                  </a:cubicBezTo>
                  <a:close/>
                  <a:moveTo>
                    <a:pt x="2799014" y="855218"/>
                  </a:moveTo>
                  <a:cubicBezTo>
                    <a:pt x="2799014" y="855218"/>
                    <a:pt x="2799014" y="855218"/>
                    <a:pt x="3108386" y="855218"/>
                  </a:cubicBezTo>
                  <a:lnTo>
                    <a:pt x="3144454" y="855218"/>
                  </a:lnTo>
                  <a:lnTo>
                    <a:pt x="3178871" y="934339"/>
                  </a:lnTo>
                  <a:cubicBezTo>
                    <a:pt x="3226877" y="1044575"/>
                    <a:pt x="3282630" y="1172718"/>
                    <a:pt x="3347527" y="1321943"/>
                  </a:cubicBezTo>
                  <a:cubicBezTo>
                    <a:pt x="3377372" y="1388110"/>
                    <a:pt x="3377372" y="1472819"/>
                    <a:pt x="3347527" y="1538859"/>
                  </a:cubicBezTo>
                  <a:cubicBezTo>
                    <a:pt x="3347527" y="1538859"/>
                    <a:pt x="3347527" y="1538859"/>
                    <a:pt x="2885882" y="2599817"/>
                  </a:cubicBezTo>
                  <a:cubicBezTo>
                    <a:pt x="2857942" y="2668651"/>
                    <a:pt x="2802317" y="2710942"/>
                    <a:pt x="2744658" y="2710942"/>
                  </a:cubicBezTo>
                  <a:cubicBezTo>
                    <a:pt x="2744658" y="2710942"/>
                    <a:pt x="2744658" y="2710942"/>
                    <a:pt x="1823401" y="2710942"/>
                  </a:cubicBezTo>
                  <a:cubicBezTo>
                    <a:pt x="1808415" y="2710942"/>
                    <a:pt x="1793937" y="2708275"/>
                    <a:pt x="1779967" y="2703195"/>
                  </a:cubicBezTo>
                  <a:lnTo>
                    <a:pt x="1750122" y="2686558"/>
                  </a:lnTo>
                  <a:lnTo>
                    <a:pt x="1768410" y="2644394"/>
                  </a:lnTo>
                  <a:cubicBezTo>
                    <a:pt x="1933256" y="2263902"/>
                    <a:pt x="2144203" y="1776984"/>
                    <a:pt x="2414332" y="1153541"/>
                  </a:cubicBezTo>
                  <a:cubicBezTo>
                    <a:pt x="2494469" y="968756"/>
                    <a:pt x="2638741" y="855091"/>
                    <a:pt x="2799141" y="855091"/>
                  </a:cubicBezTo>
                  <a:lnTo>
                    <a:pt x="2799014" y="855091"/>
                  </a:lnTo>
                  <a:close/>
                  <a:moveTo>
                    <a:pt x="1768791" y="0"/>
                  </a:moveTo>
                  <a:cubicBezTo>
                    <a:pt x="1768791" y="0"/>
                    <a:pt x="1768791" y="0"/>
                    <a:pt x="2808032" y="0"/>
                  </a:cubicBezTo>
                  <a:cubicBezTo>
                    <a:pt x="2873183" y="0"/>
                    <a:pt x="2935921" y="47752"/>
                    <a:pt x="2967417" y="125349"/>
                  </a:cubicBezTo>
                  <a:cubicBezTo>
                    <a:pt x="2967417" y="125349"/>
                    <a:pt x="2967417" y="125349"/>
                    <a:pt x="3246689" y="767334"/>
                  </a:cubicBezTo>
                  <a:lnTo>
                    <a:pt x="3278185" y="839851"/>
                  </a:lnTo>
                  <a:lnTo>
                    <a:pt x="3253293" y="839851"/>
                  </a:lnTo>
                  <a:lnTo>
                    <a:pt x="3135945" y="839851"/>
                  </a:lnTo>
                  <a:lnTo>
                    <a:pt x="3084891" y="722630"/>
                  </a:lnTo>
                  <a:cubicBezTo>
                    <a:pt x="2890200" y="275082"/>
                    <a:pt x="2890200" y="275082"/>
                    <a:pt x="2890200" y="275082"/>
                  </a:cubicBezTo>
                  <a:cubicBezTo>
                    <a:pt x="2862260" y="206248"/>
                    <a:pt x="2806634" y="163957"/>
                    <a:pt x="2748976" y="163957"/>
                  </a:cubicBezTo>
                  <a:cubicBezTo>
                    <a:pt x="1827719" y="163957"/>
                    <a:pt x="1827719" y="163957"/>
                    <a:pt x="1827719" y="163957"/>
                  </a:cubicBezTo>
                  <a:cubicBezTo>
                    <a:pt x="1768029" y="163957"/>
                    <a:pt x="1714308" y="206248"/>
                    <a:pt x="1684463" y="275082"/>
                  </a:cubicBezTo>
                  <a:cubicBezTo>
                    <a:pt x="1224723" y="1336040"/>
                    <a:pt x="1224723" y="1336040"/>
                    <a:pt x="1224723" y="1336040"/>
                  </a:cubicBezTo>
                  <a:cubicBezTo>
                    <a:pt x="1194878" y="1402207"/>
                    <a:pt x="1194878" y="1486916"/>
                    <a:pt x="1224723" y="1552956"/>
                  </a:cubicBezTo>
                  <a:cubicBezTo>
                    <a:pt x="1684336" y="2613914"/>
                    <a:pt x="1684336" y="2613914"/>
                    <a:pt x="1684336" y="2613914"/>
                  </a:cubicBezTo>
                  <a:cubicBezTo>
                    <a:pt x="1699322" y="2648331"/>
                    <a:pt x="1720150" y="2676144"/>
                    <a:pt x="1744788" y="2695321"/>
                  </a:cubicBezTo>
                  <a:lnTo>
                    <a:pt x="1751773" y="2699258"/>
                  </a:lnTo>
                  <a:lnTo>
                    <a:pt x="1714308" y="2785745"/>
                  </a:lnTo>
                  <a:lnTo>
                    <a:pt x="1686368" y="2850134"/>
                  </a:lnTo>
                  <a:lnTo>
                    <a:pt x="1715324" y="2866390"/>
                  </a:lnTo>
                  <a:cubicBezTo>
                    <a:pt x="1731072" y="2872105"/>
                    <a:pt x="1747455" y="2875026"/>
                    <a:pt x="1764219" y="2875026"/>
                  </a:cubicBezTo>
                  <a:cubicBezTo>
                    <a:pt x="2803460" y="2875026"/>
                    <a:pt x="2803460" y="2875026"/>
                    <a:pt x="2803460" y="2875026"/>
                  </a:cubicBezTo>
                  <a:cubicBezTo>
                    <a:pt x="2868610" y="2875026"/>
                    <a:pt x="2931348" y="2827274"/>
                    <a:pt x="2962845" y="2749677"/>
                  </a:cubicBezTo>
                  <a:cubicBezTo>
                    <a:pt x="3483544" y="1552956"/>
                    <a:pt x="3483544" y="1552956"/>
                    <a:pt x="3483544" y="1552956"/>
                  </a:cubicBezTo>
                  <a:cubicBezTo>
                    <a:pt x="3517199" y="1478407"/>
                    <a:pt x="3517199" y="1382776"/>
                    <a:pt x="3483544" y="1308227"/>
                  </a:cubicBezTo>
                  <a:cubicBezTo>
                    <a:pt x="3418393" y="1158621"/>
                    <a:pt x="3361497" y="1027684"/>
                    <a:pt x="3311586" y="913257"/>
                  </a:cubicBezTo>
                  <a:lnTo>
                    <a:pt x="3286440" y="855472"/>
                  </a:lnTo>
                  <a:lnTo>
                    <a:pt x="3403026" y="855472"/>
                  </a:lnTo>
                  <a:cubicBezTo>
                    <a:pt x="3765484" y="855472"/>
                    <a:pt x="4345493" y="855472"/>
                    <a:pt x="5273354" y="855472"/>
                  </a:cubicBezTo>
                  <a:cubicBezTo>
                    <a:pt x="5428294" y="855472"/>
                    <a:pt x="5578027" y="969137"/>
                    <a:pt x="5652830" y="1153922"/>
                  </a:cubicBezTo>
                  <a:cubicBezTo>
                    <a:pt x="5652830" y="1153922"/>
                    <a:pt x="5652830" y="1153922"/>
                    <a:pt x="6892857" y="4003548"/>
                  </a:cubicBezTo>
                  <a:cubicBezTo>
                    <a:pt x="6972994" y="4181222"/>
                    <a:pt x="6972994" y="4408678"/>
                    <a:pt x="6892857" y="4586224"/>
                  </a:cubicBezTo>
                  <a:cubicBezTo>
                    <a:pt x="6892857" y="4586224"/>
                    <a:pt x="6892857" y="4586224"/>
                    <a:pt x="5652830" y="7435851"/>
                  </a:cubicBezTo>
                  <a:cubicBezTo>
                    <a:pt x="5578027" y="7620636"/>
                    <a:pt x="5428421" y="7734301"/>
                    <a:pt x="5273354" y="7734301"/>
                  </a:cubicBezTo>
                  <a:cubicBezTo>
                    <a:pt x="5273354" y="7734301"/>
                    <a:pt x="5273354" y="7734301"/>
                    <a:pt x="2798760" y="7734301"/>
                  </a:cubicBezTo>
                  <a:cubicBezTo>
                    <a:pt x="2638360" y="7734301"/>
                    <a:pt x="2494088" y="7620636"/>
                    <a:pt x="2413951" y="7435851"/>
                  </a:cubicBezTo>
                  <a:cubicBezTo>
                    <a:pt x="2413951" y="7435851"/>
                    <a:pt x="2413951" y="7435851"/>
                    <a:pt x="1179257" y="4586224"/>
                  </a:cubicBezTo>
                  <a:cubicBezTo>
                    <a:pt x="1099120" y="4408551"/>
                    <a:pt x="1099120" y="4181094"/>
                    <a:pt x="1179257" y="4003548"/>
                  </a:cubicBezTo>
                  <a:cubicBezTo>
                    <a:pt x="1179257" y="4003548"/>
                    <a:pt x="1179257" y="4003548"/>
                    <a:pt x="1637727" y="2945511"/>
                  </a:cubicBezTo>
                  <a:lnTo>
                    <a:pt x="1676462" y="2856230"/>
                  </a:lnTo>
                  <a:lnTo>
                    <a:pt x="1675192" y="2855468"/>
                  </a:lnTo>
                  <a:cubicBezTo>
                    <a:pt x="1647379" y="2833878"/>
                    <a:pt x="1623884" y="2802509"/>
                    <a:pt x="1606993" y="2763774"/>
                  </a:cubicBezTo>
                  <a:cubicBezTo>
                    <a:pt x="1606993" y="2763774"/>
                    <a:pt x="1606993" y="2763774"/>
                    <a:pt x="1088579" y="1567053"/>
                  </a:cubicBezTo>
                  <a:cubicBezTo>
                    <a:pt x="1054924" y="1492504"/>
                    <a:pt x="1054924" y="1396873"/>
                    <a:pt x="1088579" y="1322324"/>
                  </a:cubicBezTo>
                  <a:cubicBezTo>
                    <a:pt x="1088579" y="1322324"/>
                    <a:pt x="1088579" y="1322324"/>
                    <a:pt x="1606993" y="125603"/>
                  </a:cubicBezTo>
                  <a:cubicBezTo>
                    <a:pt x="1640902" y="47752"/>
                    <a:pt x="1701354" y="0"/>
                    <a:pt x="1768791" y="0"/>
                  </a:cubicBezTo>
                  <a:close/>
                </a:path>
              </a:pathLst>
            </a:custGeom>
            <a:solidFill>
              <a:srgbClr val="808080">
                <a:alpha val="1961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700407" y="4229100"/>
            <a:ext cx="3578952" cy="4607631"/>
            <a:chOff x="0" y="0"/>
            <a:chExt cx="6407023" cy="68510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07023" cy="6851015"/>
            </a:xfrm>
            <a:custGeom>
              <a:avLst/>
              <a:gdLst/>
              <a:ahLst/>
              <a:cxnLst/>
              <a:rect l="l" t="t" r="r" b="b"/>
              <a:pathLst>
                <a:path w="6407023" h="6851015">
                  <a:moveTo>
                    <a:pt x="0" y="0"/>
                  </a:moveTo>
                  <a:lnTo>
                    <a:pt x="6407023" y="0"/>
                  </a:lnTo>
                  <a:lnTo>
                    <a:pt x="6407023" y="6851015"/>
                  </a:lnTo>
                  <a:lnTo>
                    <a:pt x="0" y="6851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4950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485165" y="1277283"/>
            <a:ext cx="6957908" cy="7732452"/>
            <a:chOff x="0" y="0"/>
            <a:chExt cx="6957911" cy="773244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57952" cy="7732390"/>
            </a:xfrm>
            <a:custGeom>
              <a:avLst/>
              <a:gdLst/>
              <a:ahLst/>
              <a:cxnLst/>
              <a:rect l="l" t="t" r="r" b="b"/>
              <a:pathLst>
                <a:path w="6957952" h="7732390">
                  <a:moveTo>
                    <a:pt x="0" y="7732390"/>
                  </a:moveTo>
                  <a:lnTo>
                    <a:pt x="6957952" y="7732390"/>
                  </a:lnTo>
                  <a:lnTo>
                    <a:pt x="69579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3797953" y="668962"/>
            <a:ext cx="9067800" cy="966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4400" b="1" dirty="0">
                <a:solidFill>
                  <a:srgbClr val="1F497D"/>
                </a:solidFill>
                <a:latin typeface="Garamond Bold"/>
                <a:ea typeface="Garamond Bold"/>
                <a:cs typeface="Garamond Bold"/>
                <a:sym typeface="Garamond Bold"/>
              </a:rPr>
              <a:t>SMART INDIA HACKATHON 2026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8138" y="2542896"/>
            <a:ext cx="13589814" cy="6591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345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Statement ID – SIH26188</a:t>
            </a:r>
          </a:p>
          <a:p>
            <a:pPr algn="l">
              <a:lnSpc>
                <a:spcPts val="4345"/>
              </a:lnSpc>
            </a:pPr>
            <a:endParaRPr lang="en-US" sz="2600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marL="457200" indent="-457200">
              <a:lnSpc>
                <a:spcPts val="4345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Statement Title- AI-Based Fake Identity &amp; Document Screening System</a:t>
            </a:r>
          </a:p>
          <a:p>
            <a:pPr>
              <a:lnSpc>
                <a:spcPts val="4345"/>
              </a:lnSpc>
            </a:pPr>
            <a:endParaRPr lang="en-US" sz="2600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marL="457200" indent="-457200">
              <a:lnSpc>
                <a:spcPts val="4345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Theme- BLOCKCHAIN &amp; CYBERSECURITY</a:t>
            </a:r>
          </a:p>
          <a:p>
            <a:pPr marL="457200" indent="-457200">
              <a:lnSpc>
                <a:spcPts val="4345"/>
              </a:lnSpc>
              <a:buFont typeface="Arial" panose="020B0604020202020204" pitchFamily="34" charset="0"/>
              <a:buChar char="•"/>
            </a:pPr>
            <a:endParaRPr lang="en-US" sz="2600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marL="457200" indent="-457200">
              <a:lnSpc>
                <a:spcPts val="4345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PS Category- Software</a:t>
            </a:r>
          </a:p>
          <a:p>
            <a:pPr marL="457200" indent="-457200">
              <a:lnSpc>
                <a:spcPts val="4345"/>
              </a:lnSpc>
              <a:buFont typeface="Arial" panose="020B0604020202020204" pitchFamily="34" charset="0"/>
              <a:buChar char="•"/>
            </a:pPr>
            <a:endParaRPr lang="en-US" sz="2600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marL="457200" indent="-457200">
              <a:lnSpc>
                <a:spcPts val="4345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Team ID- 161860</a:t>
            </a:r>
          </a:p>
          <a:p>
            <a:pPr marL="457200" indent="-457200">
              <a:lnSpc>
                <a:spcPts val="4345"/>
              </a:lnSpc>
              <a:buFont typeface="Arial" panose="020B0604020202020204" pitchFamily="34" charset="0"/>
              <a:buChar char="•"/>
            </a:pPr>
            <a:endParaRPr lang="en-US" sz="2600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marL="457200" indent="-457200">
              <a:lnSpc>
                <a:spcPts val="4345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Team Name - NEX ERA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259300" y="9162659"/>
            <a:ext cx="137855" cy="38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8064A2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1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853752C-F742-4690-89A7-1DAFC5AB3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8236" y="663586"/>
            <a:ext cx="2768919" cy="1246504"/>
          </a:xfrm>
          <a:prstGeom prst="rect">
            <a:avLst/>
          </a:prstGeom>
        </p:spPr>
      </p:pic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C1870740-B4B7-81C1-CD5F-9DA0F1F175E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23589" y="806296"/>
            <a:ext cx="2440645" cy="939424"/>
          </a:xfrm>
          <a:prstGeom prst="ellipse">
            <a:avLst/>
          </a:prstGeom>
          <a:solidFill>
            <a:srgbClr val="00B0F0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NEX 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8A13732-9B37-3C3B-FD85-F8549107E3B2}"/>
              </a:ext>
            </a:extLst>
          </p:cNvPr>
          <p:cNvSpPr txBox="1"/>
          <p:nvPr/>
        </p:nvSpPr>
        <p:spPr>
          <a:xfrm>
            <a:off x="1905000" y="559018"/>
            <a:ext cx="13297410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82"/>
              </a:lnSpc>
            </a:pPr>
            <a:r>
              <a:rPr lang="en-US" sz="3100" b="1" dirty="0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 VOICE GUARD : REAL-TIME AI-BASED FAKE IDENTITY,</a:t>
            </a:r>
          </a:p>
          <a:p>
            <a:pPr algn="ctr">
              <a:lnSpc>
                <a:spcPts val="3682"/>
              </a:lnSpc>
            </a:pPr>
            <a:r>
              <a:rPr lang="en-US" sz="3100" b="1" dirty="0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BIOMETRIC VOICE &amp; CREDENTIAL SCREENING SYSTEM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DEB4B4-710E-ECEB-74E0-6549B7BAD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2800" y="571500"/>
            <a:ext cx="2768919" cy="12465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9B60848-6F96-C3C3-30D6-5E2EB37884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815" y="2359780"/>
            <a:ext cx="8864845" cy="3888852"/>
          </a:xfrm>
          <a:prstGeom prst="rect">
            <a:avLst/>
          </a:prstGeom>
        </p:spPr>
      </p:pic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FE81A397-D1B9-A7C3-5710-C04EAEA1C2B5}"/>
              </a:ext>
            </a:extLst>
          </p:cNvPr>
          <p:cNvSpPr/>
          <p:nvPr/>
        </p:nvSpPr>
        <p:spPr>
          <a:xfrm>
            <a:off x="1066800" y="2778648"/>
            <a:ext cx="6553200" cy="2060052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0CF88E-429B-E10E-C0D5-ADAD53B5A221}"/>
              </a:ext>
            </a:extLst>
          </p:cNvPr>
          <p:cNvSpPr txBox="1"/>
          <p:nvPr/>
        </p:nvSpPr>
        <p:spPr>
          <a:xfrm>
            <a:off x="1292942" y="2993214"/>
            <a:ext cx="6553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Scammers exploit synthetic AI voice clones and forged credentials (CBI/Police notices) to stage fake identity extortion and "Digital Arrest" scams, defrauding innocent citizens of life savings.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F8EF2A-86A1-C62E-56E9-8D7F1618D45D}"/>
              </a:ext>
            </a:extLst>
          </p:cNvPr>
          <p:cNvSpPr txBox="1"/>
          <p:nvPr/>
        </p:nvSpPr>
        <p:spPr>
          <a:xfrm>
            <a:off x="1066800" y="2301861"/>
            <a:ext cx="35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Problem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BC0DD9-FA52-0BAB-A405-F6B64A214040}"/>
              </a:ext>
            </a:extLst>
          </p:cNvPr>
          <p:cNvSpPr txBox="1"/>
          <p:nvPr/>
        </p:nvSpPr>
        <p:spPr>
          <a:xfrm>
            <a:off x="1074174" y="5266704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VoiceGuard — Solution</a:t>
            </a:r>
          </a:p>
        </p:txBody>
      </p:sp>
      <p:sp>
        <p:nvSpPr>
          <p:cNvPr id="31" name="Flowchart: Alternate Process 30">
            <a:extLst>
              <a:ext uri="{FF2B5EF4-FFF2-40B4-BE49-F238E27FC236}">
                <a16:creationId xmlns:a16="http://schemas.microsoft.com/office/drawing/2014/main" id="{9879F37E-36FB-2E4E-D7FC-8A0907FDB342}"/>
              </a:ext>
            </a:extLst>
          </p:cNvPr>
          <p:cNvSpPr/>
          <p:nvPr/>
        </p:nvSpPr>
        <p:spPr>
          <a:xfrm>
            <a:off x="1076632" y="5849622"/>
            <a:ext cx="6553200" cy="2060052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DE748E-00F2-6A63-A017-F4901DE4BB92}"/>
              </a:ext>
            </a:extLst>
          </p:cNvPr>
          <p:cNvSpPr txBox="1"/>
          <p:nvPr/>
        </p:nvSpPr>
        <p:spPr>
          <a:xfrm>
            <a:off x="1302774" y="6094818"/>
            <a:ext cx="6096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AI screening platform that instantly verifies in-call voice biometrics, screens suspect official documents, and deploys autonomous Honeypot bots to catch extortionists.</a:t>
            </a:r>
          </a:p>
        </p:txBody>
      </p:sp>
      <p:grpSp>
        <p:nvGrpSpPr>
          <p:cNvPr id="56" name="Group 46"/>
          <p:cNvGrpSpPr/>
          <p:nvPr/>
        </p:nvGrpSpPr>
        <p:grpSpPr>
          <a:xfrm rot="1331935">
            <a:off x="10485517" y="6727383"/>
            <a:ext cx="2164726" cy="795200"/>
            <a:chOff x="0" y="0"/>
            <a:chExt cx="3536607" cy="1079881"/>
          </a:xfrm>
        </p:grpSpPr>
        <p:sp>
          <p:nvSpPr>
            <p:cNvPr id="57" name="Freeform 47"/>
            <p:cNvSpPr/>
            <p:nvPr/>
          </p:nvSpPr>
          <p:spPr>
            <a:xfrm>
              <a:off x="0" y="0"/>
              <a:ext cx="3536633" cy="1079881"/>
            </a:xfrm>
            <a:custGeom>
              <a:avLst/>
              <a:gdLst/>
              <a:ahLst/>
              <a:cxnLst/>
              <a:rect l="l" t="t" r="r" b="b"/>
              <a:pathLst>
                <a:path w="3536633" h="1079881">
                  <a:moveTo>
                    <a:pt x="118" y="0"/>
                  </a:moveTo>
                  <a:lnTo>
                    <a:pt x="0" y="1079500"/>
                  </a:lnTo>
                  <a:lnTo>
                    <a:pt x="3536513" y="1079881"/>
                  </a:lnTo>
                  <a:lnTo>
                    <a:pt x="3536633" y="381"/>
                  </a:lnTo>
                  <a:lnTo>
                    <a:pt x="118" y="0"/>
                  </a:lnTo>
                  <a:close/>
                </a:path>
              </a:pathLst>
            </a:custGeom>
            <a:blipFill>
              <a:blip r:embed="rId5"/>
              <a:stretch>
                <a:fillRect l="-3687" r="-368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3" name="Oval 62" descr="Your startup LOGO">
            <a:extLst>
              <a:ext uri="{FF2B5EF4-FFF2-40B4-BE49-F238E27FC236}">
                <a16:creationId xmlns:a16="http://schemas.microsoft.com/office/drawing/2014/main" id="{52983AA7-4E57-9518-70D0-6BBC3A3585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28600" y="571500"/>
            <a:ext cx="2440645" cy="939424"/>
          </a:xfrm>
          <a:prstGeom prst="ellipse">
            <a:avLst/>
          </a:prstGeom>
          <a:solidFill>
            <a:srgbClr val="00B0F0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NEX ERA</a:t>
            </a:r>
          </a:p>
        </p:txBody>
      </p:sp>
      <p:grpSp>
        <p:nvGrpSpPr>
          <p:cNvPr id="64" name="Group 14"/>
          <p:cNvGrpSpPr/>
          <p:nvPr/>
        </p:nvGrpSpPr>
        <p:grpSpPr>
          <a:xfrm>
            <a:off x="7174794" y="8214571"/>
            <a:ext cx="2226043" cy="1550661"/>
            <a:chOff x="63500" y="63500"/>
            <a:chExt cx="2762250" cy="1924181"/>
          </a:xfrm>
        </p:grpSpPr>
        <p:sp>
          <p:nvSpPr>
            <p:cNvPr id="65" name="Freeform 15"/>
            <p:cNvSpPr/>
            <p:nvPr/>
          </p:nvSpPr>
          <p:spPr>
            <a:xfrm>
              <a:off x="63500" y="63500"/>
              <a:ext cx="2762250" cy="1924181"/>
            </a:xfrm>
            <a:custGeom>
              <a:avLst/>
              <a:gdLst/>
              <a:ahLst/>
              <a:cxnLst/>
              <a:rect l="l" t="t" r="r" b="b"/>
              <a:pathLst>
                <a:path w="2762250" h="1924181">
                  <a:moveTo>
                    <a:pt x="1551178" y="0"/>
                  </a:moveTo>
                  <a:cubicBezTo>
                    <a:pt x="1384173" y="0"/>
                    <a:pt x="1222375" y="58547"/>
                    <a:pt x="1094105" y="165101"/>
                  </a:cubicBezTo>
                  <a:cubicBezTo>
                    <a:pt x="1021588" y="132969"/>
                    <a:pt x="944372" y="116586"/>
                    <a:pt x="864108" y="116586"/>
                  </a:cubicBezTo>
                  <a:cubicBezTo>
                    <a:pt x="730250" y="116586"/>
                    <a:pt x="600456" y="164339"/>
                    <a:pt x="498348" y="250953"/>
                  </a:cubicBezTo>
                  <a:cubicBezTo>
                    <a:pt x="484759" y="262510"/>
                    <a:pt x="471805" y="274575"/>
                    <a:pt x="459486" y="287275"/>
                  </a:cubicBezTo>
                  <a:cubicBezTo>
                    <a:pt x="382524" y="366142"/>
                    <a:pt x="329819" y="466091"/>
                    <a:pt x="308864" y="574041"/>
                  </a:cubicBezTo>
                  <a:cubicBezTo>
                    <a:pt x="253746" y="602235"/>
                    <a:pt x="203962" y="639066"/>
                    <a:pt x="161036" y="683008"/>
                  </a:cubicBezTo>
                  <a:cubicBezTo>
                    <a:pt x="133985" y="710694"/>
                    <a:pt x="109728" y="741174"/>
                    <a:pt x="88773" y="774194"/>
                  </a:cubicBezTo>
                  <a:cubicBezTo>
                    <a:pt x="30607" y="864999"/>
                    <a:pt x="0" y="969901"/>
                    <a:pt x="0" y="1077725"/>
                  </a:cubicBezTo>
                  <a:cubicBezTo>
                    <a:pt x="0" y="1256541"/>
                    <a:pt x="83566" y="1416180"/>
                    <a:pt x="213614" y="1519940"/>
                  </a:cubicBezTo>
                  <a:cubicBezTo>
                    <a:pt x="213614" y="1519940"/>
                    <a:pt x="213741" y="1520067"/>
                    <a:pt x="213741" y="1520067"/>
                  </a:cubicBezTo>
                  <a:lnTo>
                    <a:pt x="314325" y="1600204"/>
                  </a:lnTo>
                  <a:lnTo>
                    <a:pt x="314452" y="1600331"/>
                  </a:lnTo>
                  <a:lnTo>
                    <a:pt x="314579" y="1600458"/>
                  </a:lnTo>
                  <a:cubicBezTo>
                    <a:pt x="411226" y="1677420"/>
                    <a:pt x="533527" y="1723394"/>
                    <a:pt x="666496" y="1723394"/>
                  </a:cubicBezTo>
                  <a:cubicBezTo>
                    <a:pt x="725932" y="1723394"/>
                    <a:pt x="784479" y="1713996"/>
                    <a:pt x="840994" y="1695581"/>
                  </a:cubicBezTo>
                  <a:lnTo>
                    <a:pt x="911733" y="1751969"/>
                  </a:lnTo>
                  <a:cubicBezTo>
                    <a:pt x="1049782" y="1861951"/>
                    <a:pt x="1223264" y="1923800"/>
                    <a:pt x="1400937" y="1924181"/>
                  </a:cubicBezTo>
                  <a:lnTo>
                    <a:pt x="1404874" y="1924181"/>
                  </a:lnTo>
                  <a:cubicBezTo>
                    <a:pt x="1593723" y="1923673"/>
                    <a:pt x="1775968" y="1854966"/>
                    <a:pt x="1919478" y="1730125"/>
                  </a:cubicBezTo>
                  <a:cubicBezTo>
                    <a:pt x="1991360" y="1758319"/>
                    <a:pt x="2066798" y="1772543"/>
                    <a:pt x="2143633" y="1772543"/>
                  </a:cubicBezTo>
                  <a:cubicBezTo>
                    <a:pt x="2484755" y="1772543"/>
                    <a:pt x="2762250" y="1495175"/>
                    <a:pt x="2762250" y="1154306"/>
                  </a:cubicBezTo>
                  <a:cubicBezTo>
                    <a:pt x="2762250" y="1018415"/>
                    <a:pt x="2718816" y="889383"/>
                    <a:pt x="2636520" y="781179"/>
                  </a:cubicBezTo>
                  <a:cubicBezTo>
                    <a:pt x="2630678" y="773432"/>
                    <a:pt x="2624582" y="765812"/>
                    <a:pt x="2618359" y="758446"/>
                  </a:cubicBezTo>
                  <a:cubicBezTo>
                    <a:pt x="2591435" y="726315"/>
                    <a:pt x="2561336" y="697105"/>
                    <a:pt x="2528697" y="671070"/>
                  </a:cubicBezTo>
                  <a:lnTo>
                    <a:pt x="2523871" y="667260"/>
                  </a:lnTo>
                  <a:lnTo>
                    <a:pt x="2429764" y="592329"/>
                  </a:lnTo>
                  <a:lnTo>
                    <a:pt x="2427859" y="590805"/>
                  </a:lnTo>
                  <a:cubicBezTo>
                    <a:pt x="2391791" y="562103"/>
                    <a:pt x="2352675" y="537465"/>
                    <a:pt x="2311400" y="517399"/>
                  </a:cubicBezTo>
                  <a:cubicBezTo>
                    <a:pt x="2264918" y="407544"/>
                    <a:pt x="2192147" y="311532"/>
                    <a:pt x="2097786" y="236475"/>
                  </a:cubicBezTo>
                  <a:lnTo>
                    <a:pt x="2097659" y="236348"/>
                  </a:lnTo>
                  <a:lnTo>
                    <a:pt x="1996948" y="156210"/>
                  </a:lnTo>
                  <a:lnTo>
                    <a:pt x="1996821" y="156083"/>
                  </a:lnTo>
                  <a:cubicBezTo>
                    <a:pt x="1989963" y="150622"/>
                    <a:pt x="1982851" y="145161"/>
                    <a:pt x="1975739" y="139954"/>
                  </a:cubicBezTo>
                  <a:cubicBezTo>
                    <a:pt x="1851914" y="48514"/>
                    <a:pt x="1705229" y="254"/>
                    <a:pt x="1551178" y="25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6" name="Freeform 16"/>
            <p:cNvSpPr/>
            <p:nvPr/>
          </p:nvSpPr>
          <p:spPr>
            <a:xfrm>
              <a:off x="84328" y="84202"/>
              <a:ext cx="2619756" cy="1802261"/>
            </a:xfrm>
            <a:custGeom>
              <a:avLst/>
              <a:gdLst/>
              <a:ahLst/>
              <a:cxnLst/>
              <a:rect l="l" t="t" r="r" b="b"/>
              <a:pathLst>
                <a:path w="2619756" h="1802261">
                  <a:moveTo>
                    <a:pt x="1530350" y="127"/>
                  </a:moveTo>
                  <a:cubicBezTo>
                    <a:pt x="1838706" y="127"/>
                    <a:pt x="2100834" y="201931"/>
                    <a:pt x="2191385" y="480188"/>
                  </a:cubicBezTo>
                  <a:cubicBezTo>
                    <a:pt x="2438781" y="553340"/>
                    <a:pt x="2619756" y="782576"/>
                    <a:pt x="2619756" y="1053213"/>
                  </a:cubicBezTo>
                  <a:cubicBezTo>
                    <a:pt x="2619756" y="1382652"/>
                    <a:pt x="2351532" y="1650623"/>
                    <a:pt x="2021967" y="1650623"/>
                  </a:cubicBezTo>
                  <a:cubicBezTo>
                    <a:pt x="1942846" y="1650623"/>
                    <a:pt x="1865249" y="1634621"/>
                    <a:pt x="1793621" y="1604903"/>
                  </a:cubicBezTo>
                  <a:cubicBezTo>
                    <a:pt x="1655064" y="1729363"/>
                    <a:pt x="1472946" y="1802261"/>
                    <a:pt x="1281176" y="1802261"/>
                  </a:cubicBezTo>
                  <a:cubicBezTo>
                    <a:pt x="1068705" y="1802261"/>
                    <a:pt x="871601" y="1714631"/>
                    <a:pt x="730377" y="1568581"/>
                  </a:cubicBezTo>
                  <a:cubicBezTo>
                    <a:pt x="671576" y="1590044"/>
                    <a:pt x="608965" y="1601474"/>
                    <a:pt x="544830" y="1601474"/>
                  </a:cubicBezTo>
                  <a:cubicBezTo>
                    <a:pt x="244348" y="1601474"/>
                    <a:pt x="0" y="1357252"/>
                    <a:pt x="0" y="1057024"/>
                  </a:cubicBezTo>
                  <a:cubicBezTo>
                    <a:pt x="0" y="842139"/>
                    <a:pt x="125222" y="655957"/>
                    <a:pt x="306451" y="567437"/>
                  </a:cubicBezTo>
                  <a:cubicBezTo>
                    <a:pt x="351028" y="311786"/>
                    <a:pt x="574802" y="116713"/>
                    <a:pt x="843153" y="116713"/>
                  </a:cubicBezTo>
                  <a:cubicBezTo>
                    <a:pt x="925830" y="116713"/>
                    <a:pt x="1005205" y="135128"/>
                    <a:pt x="1076579" y="168784"/>
                  </a:cubicBezTo>
                  <a:cubicBezTo>
                    <a:pt x="1199896" y="62357"/>
                    <a:pt x="1359662" y="0"/>
                    <a:pt x="153035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Freeform 17"/>
            <p:cNvSpPr/>
            <p:nvPr/>
          </p:nvSpPr>
          <p:spPr>
            <a:xfrm>
              <a:off x="69850" y="69977"/>
              <a:ext cx="2648585" cy="1830836"/>
            </a:xfrm>
            <a:custGeom>
              <a:avLst/>
              <a:gdLst/>
              <a:ahLst/>
              <a:cxnLst/>
              <a:rect l="l" t="t" r="r" b="b"/>
              <a:pathLst>
                <a:path w="2648585" h="1830836">
                  <a:moveTo>
                    <a:pt x="1544828" y="0"/>
                  </a:moveTo>
                  <a:cubicBezTo>
                    <a:pt x="1859534" y="0"/>
                    <a:pt x="2126996" y="205995"/>
                    <a:pt x="2219452" y="489967"/>
                  </a:cubicBezTo>
                  <a:lnTo>
                    <a:pt x="2205863" y="494412"/>
                  </a:lnTo>
                  <a:lnTo>
                    <a:pt x="2209927" y="480696"/>
                  </a:lnTo>
                  <a:cubicBezTo>
                    <a:pt x="2463165" y="555626"/>
                    <a:pt x="2648585" y="790196"/>
                    <a:pt x="2648585" y="1067438"/>
                  </a:cubicBezTo>
                  <a:lnTo>
                    <a:pt x="2634234" y="1067438"/>
                  </a:lnTo>
                  <a:lnTo>
                    <a:pt x="2648585" y="1067438"/>
                  </a:lnTo>
                  <a:cubicBezTo>
                    <a:pt x="2648585" y="1404750"/>
                    <a:pt x="2374011" y="1679198"/>
                    <a:pt x="2036445" y="1679198"/>
                  </a:cubicBezTo>
                  <a:lnTo>
                    <a:pt x="2036445" y="1664847"/>
                  </a:lnTo>
                  <a:lnTo>
                    <a:pt x="2036445" y="1679198"/>
                  </a:lnTo>
                  <a:cubicBezTo>
                    <a:pt x="1955292" y="1679198"/>
                    <a:pt x="1875917" y="1662815"/>
                    <a:pt x="1802638" y="1632335"/>
                  </a:cubicBezTo>
                  <a:lnTo>
                    <a:pt x="1808099" y="1619127"/>
                  </a:lnTo>
                  <a:lnTo>
                    <a:pt x="1817624" y="1629795"/>
                  </a:lnTo>
                  <a:cubicBezTo>
                    <a:pt x="1676527" y="1756541"/>
                    <a:pt x="1490980" y="1830836"/>
                    <a:pt x="1295527" y="1830836"/>
                  </a:cubicBezTo>
                  <a:lnTo>
                    <a:pt x="1295527" y="1816485"/>
                  </a:lnTo>
                  <a:lnTo>
                    <a:pt x="1295527" y="1830836"/>
                  </a:lnTo>
                  <a:cubicBezTo>
                    <a:pt x="1079119" y="1830836"/>
                    <a:pt x="878205" y="1741555"/>
                    <a:pt x="734441" y="1592838"/>
                  </a:cubicBezTo>
                  <a:lnTo>
                    <a:pt x="744728" y="1582805"/>
                  </a:lnTo>
                  <a:lnTo>
                    <a:pt x="749681" y="1596267"/>
                  </a:lnTo>
                  <a:cubicBezTo>
                    <a:pt x="689356" y="1618238"/>
                    <a:pt x="625094" y="1630049"/>
                    <a:pt x="559181" y="1630049"/>
                  </a:cubicBezTo>
                  <a:lnTo>
                    <a:pt x="559181" y="1615698"/>
                  </a:lnTo>
                  <a:lnTo>
                    <a:pt x="559181" y="1630049"/>
                  </a:lnTo>
                  <a:cubicBezTo>
                    <a:pt x="250825" y="1630049"/>
                    <a:pt x="0" y="1379350"/>
                    <a:pt x="0" y="1071248"/>
                  </a:cubicBezTo>
                  <a:lnTo>
                    <a:pt x="14478" y="1071248"/>
                  </a:lnTo>
                  <a:lnTo>
                    <a:pt x="127" y="1071248"/>
                  </a:lnTo>
                  <a:cubicBezTo>
                    <a:pt x="127" y="850648"/>
                    <a:pt x="128651" y="659640"/>
                    <a:pt x="314706" y="568834"/>
                  </a:cubicBezTo>
                  <a:lnTo>
                    <a:pt x="321056" y="581788"/>
                  </a:lnTo>
                  <a:lnTo>
                    <a:pt x="306959" y="579375"/>
                  </a:lnTo>
                  <a:cubicBezTo>
                    <a:pt x="352679" y="316866"/>
                    <a:pt x="582295" y="116713"/>
                    <a:pt x="857885" y="116713"/>
                  </a:cubicBezTo>
                  <a:lnTo>
                    <a:pt x="857885" y="131064"/>
                  </a:lnTo>
                  <a:lnTo>
                    <a:pt x="857885" y="116713"/>
                  </a:lnTo>
                  <a:cubicBezTo>
                    <a:pt x="942721" y="116713"/>
                    <a:pt x="1024128" y="135636"/>
                    <a:pt x="1097407" y="170181"/>
                  </a:cubicBezTo>
                  <a:lnTo>
                    <a:pt x="1091311" y="183135"/>
                  </a:lnTo>
                  <a:lnTo>
                    <a:pt x="1081913" y="172213"/>
                  </a:lnTo>
                  <a:cubicBezTo>
                    <a:pt x="1207770" y="63627"/>
                    <a:pt x="1370838" y="0"/>
                    <a:pt x="1545082" y="0"/>
                  </a:cubicBezTo>
                  <a:lnTo>
                    <a:pt x="1545082" y="14351"/>
                  </a:lnTo>
                  <a:lnTo>
                    <a:pt x="1545082" y="28702"/>
                  </a:lnTo>
                  <a:lnTo>
                    <a:pt x="1545082" y="14351"/>
                  </a:lnTo>
                  <a:lnTo>
                    <a:pt x="1545082" y="0"/>
                  </a:lnTo>
                  <a:moveTo>
                    <a:pt x="1545082" y="28702"/>
                  </a:moveTo>
                  <a:lnTo>
                    <a:pt x="1545082" y="0"/>
                  </a:lnTo>
                  <a:lnTo>
                    <a:pt x="1545082" y="28702"/>
                  </a:lnTo>
                  <a:cubicBezTo>
                    <a:pt x="1377950" y="28702"/>
                    <a:pt x="1221486" y="89789"/>
                    <a:pt x="1100709" y="193930"/>
                  </a:cubicBezTo>
                  <a:lnTo>
                    <a:pt x="1093597" y="200026"/>
                  </a:lnTo>
                  <a:lnTo>
                    <a:pt x="1085215" y="196089"/>
                  </a:lnTo>
                  <a:cubicBezTo>
                    <a:pt x="1015746" y="163323"/>
                    <a:pt x="938530" y="145415"/>
                    <a:pt x="857885" y="145415"/>
                  </a:cubicBezTo>
                  <a:cubicBezTo>
                    <a:pt x="596519" y="145415"/>
                    <a:pt x="378714" y="335281"/>
                    <a:pt x="335280" y="584201"/>
                  </a:cubicBezTo>
                  <a:lnTo>
                    <a:pt x="334010" y="591440"/>
                  </a:lnTo>
                  <a:lnTo>
                    <a:pt x="327406" y="594615"/>
                  </a:lnTo>
                  <a:cubicBezTo>
                    <a:pt x="150876" y="680849"/>
                    <a:pt x="28956" y="862078"/>
                    <a:pt x="28956" y="1071248"/>
                  </a:cubicBezTo>
                  <a:cubicBezTo>
                    <a:pt x="28956" y="1363602"/>
                    <a:pt x="266954" y="1601347"/>
                    <a:pt x="559435" y="1601347"/>
                  </a:cubicBezTo>
                  <a:cubicBezTo>
                    <a:pt x="621919" y="1601347"/>
                    <a:pt x="682879" y="1590171"/>
                    <a:pt x="740156" y="1569343"/>
                  </a:cubicBezTo>
                  <a:lnTo>
                    <a:pt x="748919" y="1566168"/>
                  </a:lnTo>
                  <a:lnTo>
                    <a:pt x="755396" y="1572899"/>
                  </a:lnTo>
                  <a:cubicBezTo>
                    <a:pt x="893953" y="1716282"/>
                    <a:pt x="1087374" y="1802134"/>
                    <a:pt x="1295908" y="1802134"/>
                  </a:cubicBezTo>
                  <a:cubicBezTo>
                    <a:pt x="1483995" y="1802134"/>
                    <a:pt x="1662811" y="1730506"/>
                    <a:pt x="1798828" y="1608459"/>
                  </a:cubicBezTo>
                  <a:lnTo>
                    <a:pt x="1805559" y="1602363"/>
                  </a:lnTo>
                  <a:lnTo>
                    <a:pt x="1813941" y="1605792"/>
                  </a:lnTo>
                  <a:cubicBezTo>
                    <a:pt x="1883918" y="1634875"/>
                    <a:pt x="1959483" y="1650369"/>
                    <a:pt x="2036699" y="1650369"/>
                  </a:cubicBezTo>
                  <a:cubicBezTo>
                    <a:pt x="2358390" y="1650369"/>
                    <a:pt x="2620137" y="1388748"/>
                    <a:pt x="2620137" y="1067311"/>
                  </a:cubicBezTo>
                  <a:cubicBezTo>
                    <a:pt x="2620137" y="803277"/>
                    <a:pt x="2443480" y="579502"/>
                    <a:pt x="2202053" y="508128"/>
                  </a:cubicBezTo>
                  <a:lnTo>
                    <a:pt x="2194814" y="505969"/>
                  </a:lnTo>
                  <a:lnTo>
                    <a:pt x="2192528" y="498730"/>
                  </a:lnTo>
                  <a:cubicBezTo>
                    <a:pt x="2103755" y="226061"/>
                    <a:pt x="1847088" y="28575"/>
                    <a:pt x="1545082" y="28575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16D56AB4-4477-8E5F-1C01-011247EAA931}"/>
              </a:ext>
            </a:extLst>
          </p:cNvPr>
          <p:cNvSpPr txBox="1"/>
          <p:nvPr/>
        </p:nvSpPr>
        <p:spPr>
          <a:xfrm>
            <a:off x="7458745" y="8524112"/>
            <a:ext cx="16581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GitHub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Repository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0" name="Group 18"/>
          <p:cNvGrpSpPr/>
          <p:nvPr/>
        </p:nvGrpSpPr>
        <p:grpSpPr>
          <a:xfrm>
            <a:off x="8553705" y="8613542"/>
            <a:ext cx="501400" cy="358262"/>
            <a:chOff x="0" y="0"/>
            <a:chExt cx="825500" cy="876300"/>
          </a:xfrm>
        </p:grpSpPr>
        <p:sp>
          <p:nvSpPr>
            <p:cNvPr id="71" name="Freeform 19"/>
            <p:cNvSpPr/>
            <p:nvPr/>
          </p:nvSpPr>
          <p:spPr>
            <a:xfrm>
              <a:off x="0" y="0"/>
              <a:ext cx="825500" cy="876300"/>
            </a:xfrm>
            <a:custGeom>
              <a:avLst/>
              <a:gdLst/>
              <a:ahLst/>
              <a:cxnLst/>
              <a:rect l="l" t="t" r="r" b="b"/>
              <a:pathLst>
                <a:path w="825500" h="876300">
                  <a:moveTo>
                    <a:pt x="0" y="0"/>
                  </a:moveTo>
                  <a:lnTo>
                    <a:pt x="825500" y="0"/>
                  </a:lnTo>
                  <a:lnTo>
                    <a:pt x="825500" y="876300"/>
                  </a:lnTo>
                  <a:lnTo>
                    <a:pt x="0" y="876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3" name="TextBox 34">
            <a:extLst>
              <a:ext uri="{FF2B5EF4-FFF2-40B4-BE49-F238E27FC236}">
                <a16:creationId xmlns:a16="http://schemas.microsoft.com/office/drawing/2014/main" id="{897C4940-0A3A-4E8B-5246-EE62817716E4}"/>
              </a:ext>
            </a:extLst>
          </p:cNvPr>
          <p:cNvSpPr txBox="1"/>
          <p:nvPr/>
        </p:nvSpPr>
        <p:spPr>
          <a:xfrm>
            <a:off x="9384051" y="8131719"/>
            <a:ext cx="2783586" cy="53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7"/>
              </a:lnSpc>
            </a:pPr>
            <a:r>
              <a:rPr lang="en-US" sz="2769" dirty="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Detailed Report</a:t>
            </a:r>
          </a:p>
        </p:txBody>
      </p:sp>
      <p:grpSp>
        <p:nvGrpSpPr>
          <p:cNvPr id="74" name="Group 12"/>
          <p:cNvGrpSpPr/>
          <p:nvPr/>
        </p:nvGrpSpPr>
        <p:grpSpPr>
          <a:xfrm rot="10409040">
            <a:off x="8620048" y="7830440"/>
            <a:ext cx="1400175" cy="400050"/>
            <a:chOff x="0" y="0"/>
            <a:chExt cx="1866900" cy="533400"/>
          </a:xfrm>
        </p:grpSpPr>
        <p:sp>
          <p:nvSpPr>
            <p:cNvPr id="75" name="Freeform 13"/>
            <p:cNvSpPr/>
            <p:nvPr/>
          </p:nvSpPr>
          <p:spPr>
            <a:xfrm>
              <a:off x="0" y="0"/>
              <a:ext cx="1866900" cy="533400"/>
            </a:xfrm>
            <a:custGeom>
              <a:avLst/>
              <a:gdLst/>
              <a:ahLst/>
              <a:cxnLst/>
              <a:rect l="l" t="t" r="r" b="b"/>
              <a:pathLst>
                <a:path w="1866900" h="533400">
                  <a:moveTo>
                    <a:pt x="0" y="533400"/>
                  </a:moveTo>
                  <a:lnTo>
                    <a:pt x="1866900" y="533400"/>
                  </a:lnTo>
                  <a:lnTo>
                    <a:pt x="18669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2799377-0992-6C1A-2B02-6D5309AA88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29519" y="6341767"/>
            <a:ext cx="3106562" cy="356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000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F9F5B18-5EAF-8872-ABA6-BC4EF62AC892}"/>
              </a:ext>
            </a:extLst>
          </p:cNvPr>
          <p:cNvSpPr txBox="1"/>
          <p:nvPr/>
        </p:nvSpPr>
        <p:spPr>
          <a:xfrm>
            <a:off x="5855676" y="478988"/>
            <a:ext cx="9144000" cy="982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4400" b="1" dirty="0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TECHNICAL APPROACH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C18065-D45C-0F90-5D04-261467AEDF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77200" y="1996440"/>
            <a:ext cx="9601200" cy="7772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E2A8C4-461A-6C8B-F1F9-56637F93D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4200" y="495300"/>
            <a:ext cx="2768919" cy="12465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48BA49A-2A8C-32CC-8417-2538BADF2E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88" y="1391790"/>
            <a:ext cx="7428038" cy="4386123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C29DAEB0-46C3-7336-EAD2-965473BB51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288" y="5295900"/>
            <a:ext cx="7707926" cy="4624756"/>
          </a:xfrm>
          <a:prstGeom prst="rect">
            <a:avLst/>
          </a:prstGeom>
        </p:spPr>
      </p:pic>
      <p:sp>
        <p:nvSpPr>
          <p:cNvPr id="25" name="Oval 24" descr="Your startup LOGO">
            <a:extLst>
              <a:ext uri="{FF2B5EF4-FFF2-40B4-BE49-F238E27FC236}">
                <a16:creationId xmlns:a16="http://schemas.microsoft.com/office/drawing/2014/main" id="{C47AD8BB-2E34-1FDF-9D2D-20788839492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32288" y="495300"/>
            <a:ext cx="2440645" cy="939424"/>
          </a:xfrm>
          <a:prstGeom prst="ellipse">
            <a:avLst/>
          </a:prstGeom>
          <a:solidFill>
            <a:srgbClr val="00B0F0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NEX ERA</a:t>
            </a:r>
          </a:p>
        </p:txBody>
      </p:sp>
    </p:spTree>
    <p:extLst>
      <p:ext uri="{BB962C8B-B14F-4D97-AF65-F5344CB8AC3E}">
        <p14:creationId xmlns:p14="http://schemas.microsoft.com/office/powerpoint/2010/main" val="1243026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5680455" y="5306892"/>
            <a:ext cx="2257377" cy="288226"/>
            <a:chOff x="0" y="0"/>
            <a:chExt cx="2257374" cy="2882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7043" cy="288166"/>
            </a:xfrm>
            <a:custGeom>
              <a:avLst/>
              <a:gdLst/>
              <a:ahLst/>
              <a:cxnLst/>
              <a:rect l="l" t="t" r="r" b="b"/>
              <a:pathLst>
                <a:path w="2257043" h="288166">
                  <a:moveTo>
                    <a:pt x="0" y="0"/>
                  </a:moveTo>
                  <a:lnTo>
                    <a:pt x="0" y="288166"/>
                  </a:lnTo>
                  <a:lnTo>
                    <a:pt x="2257043" y="288166"/>
                  </a:lnTo>
                  <a:lnTo>
                    <a:pt x="2257043" y="0"/>
                  </a:lnTo>
                  <a:close/>
                </a:path>
              </a:pathLst>
            </a:custGeom>
            <a:solidFill>
              <a:srgbClr val="FCFAF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358062" y="7621915"/>
            <a:ext cx="3584819" cy="19050"/>
            <a:chOff x="0" y="0"/>
            <a:chExt cx="3584829" cy="190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087755" cy="19050"/>
            </a:xfrm>
            <a:custGeom>
              <a:avLst/>
              <a:gdLst/>
              <a:ahLst/>
              <a:cxnLst/>
              <a:rect l="l" t="t" r="r" b="b"/>
              <a:pathLst>
                <a:path w="4087755" h="19050">
                  <a:moveTo>
                    <a:pt x="0" y="0"/>
                  </a:moveTo>
                  <a:lnTo>
                    <a:pt x="0" y="19050"/>
                  </a:lnTo>
                  <a:lnTo>
                    <a:pt x="1887985" y="19050"/>
                  </a:lnTo>
                  <a:lnTo>
                    <a:pt x="1887985" y="0"/>
                  </a:lnTo>
                  <a:close/>
                  <a:moveTo>
                    <a:pt x="2001650" y="0"/>
                  </a:moveTo>
                  <a:lnTo>
                    <a:pt x="2001650" y="19050"/>
                  </a:lnTo>
                  <a:lnTo>
                    <a:pt x="2408686" y="19050"/>
                  </a:lnTo>
                  <a:lnTo>
                    <a:pt x="2408686" y="0"/>
                  </a:lnTo>
                  <a:close/>
                  <a:moveTo>
                    <a:pt x="2991871" y="0"/>
                  </a:moveTo>
                  <a:lnTo>
                    <a:pt x="2991871" y="19050"/>
                  </a:lnTo>
                  <a:lnTo>
                    <a:pt x="3087883" y="19050"/>
                  </a:lnTo>
                  <a:lnTo>
                    <a:pt x="3087883" y="0"/>
                  </a:lnTo>
                  <a:close/>
                  <a:moveTo>
                    <a:pt x="3360045" y="0"/>
                  </a:moveTo>
                  <a:lnTo>
                    <a:pt x="3360045" y="19050"/>
                  </a:lnTo>
                  <a:lnTo>
                    <a:pt x="4087755" y="19050"/>
                  </a:lnTo>
                  <a:lnTo>
                    <a:pt x="4087755" y="0"/>
                  </a:lnTo>
                  <a:close/>
                </a:path>
              </a:pathLst>
            </a:custGeom>
            <a:solidFill>
              <a:srgbClr val="FFEBCA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23581" y="5365281"/>
            <a:ext cx="3067307" cy="540963"/>
            <a:chOff x="0" y="0"/>
            <a:chExt cx="3067304" cy="54095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067299" cy="541015"/>
            </a:xfrm>
            <a:custGeom>
              <a:avLst/>
              <a:gdLst/>
              <a:ahLst/>
              <a:cxnLst/>
              <a:rect l="l" t="t" r="r" b="b"/>
              <a:pathLst>
                <a:path w="3067299" h="541015">
                  <a:moveTo>
                    <a:pt x="0" y="541015"/>
                  </a:moveTo>
                  <a:lnTo>
                    <a:pt x="3067299" y="541015"/>
                  </a:lnTo>
                  <a:lnTo>
                    <a:pt x="30672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57746" y="555193"/>
            <a:ext cx="717223" cy="672884"/>
            <a:chOff x="0" y="0"/>
            <a:chExt cx="717220" cy="67288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17167" cy="672846"/>
            </a:xfrm>
            <a:custGeom>
              <a:avLst/>
              <a:gdLst/>
              <a:ahLst/>
              <a:cxnLst/>
              <a:rect l="l" t="t" r="r" b="b"/>
              <a:pathLst>
                <a:path w="717167" h="672846">
                  <a:moveTo>
                    <a:pt x="0" y="672846"/>
                  </a:moveTo>
                  <a:lnTo>
                    <a:pt x="717167" y="672846"/>
                  </a:lnTo>
                  <a:lnTo>
                    <a:pt x="7171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5680455" y="5306882"/>
            <a:ext cx="2257101" cy="288226"/>
            <a:chOff x="0" y="0"/>
            <a:chExt cx="2257095" cy="28822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257041" cy="288166"/>
            </a:xfrm>
            <a:custGeom>
              <a:avLst/>
              <a:gdLst/>
              <a:ahLst/>
              <a:cxnLst/>
              <a:rect l="l" t="t" r="r" b="b"/>
              <a:pathLst>
                <a:path w="2257041" h="288166">
                  <a:moveTo>
                    <a:pt x="0" y="288166"/>
                  </a:moveTo>
                  <a:lnTo>
                    <a:pt x="2257041" y="288166"/>
                  </a:lnTo>
                  <a:lnTo>
                    <a:pt x="22570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937660" y="2007737"/>
            <a:ext cx="541830" cy="824074"/>
            <a:chOff x="0" y="0"/>
            <a:chExt cx="541833" cy="82407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41786" cy="824107"/>
            </a:xfrm>
            <a:custGeom>
              <a:avLst/>
              <a:gdLst/>
              <a:ahLst/>
              <a:cxnLst/>
              <a:rect l="l" t="t" r="r" b="b"/>
              <a:pathLst>
                <a:path w="541786" h="824107">
                  <a:moveTo>
                    <a:pt x="0" y="824107"/>
                  </a:moveTo>
                  <a:lnTo>
                    <a:pt x="541786" y="824107"/>
                  </a:lnTo>
                  <a:lnTo>
                    <a:pt x="5417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4953000" y="273218"/>
            <a:ext cx="9335959" cy="81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63"/>
              </a:lnSpc>
            </a:pPr>
            <a:r>
              <a:rPr lang="en-US" sz="4000" b="1" dirty="0">
                <a:solidFill>
                  <a:srgbClr val="1F497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FEASIBILITY AND VIABILITY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502743" y="1537221"/>
            <a:ext cx="99660" cy="582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3077" b="1" dirty="0">
                <a:solidFill>
                  <a:srgbClr val="464A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7623155" y="9792672"/>
            <a:ext cx="12968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239735" y="7311885"/>
            <a:ext cx="69418" cy="398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143" b="1" dirty="0">
                <a:solidFill>
                  <a:srgbClr val="FFEBC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AA9D1D8-9660-453B-9DC2-67B1E831A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1631" y="195661"/>
            <a:ext cx="2620049" cy="1292400"/>
          </a:xfrm>
          <a:prstGeom prst="rect">
            <a:avLst/>
          </a:prstGeom>
        </p:spPr>
      </p:pic>
      <p:sp>
        <p:nvSpPr>
          <p:cNvPr id="54" name="Oval 53" descr="Your startup LOGO">
            <a:extLst>
              <a:ext uri="{FF2B5EF4-FFF2-40B4-BE49-F238E27FC236}">
                <a16:creationId xmlns:a16="http://schemas.microsoft.com/office/drawing/2014/main" id="{9E92AD7C-2356-132D-5BD0-6DDA518B3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5360" y="324926"/>
            <a:ext cx="2440645" cy="939424"/>
          </a:xfrm>
          <a:prstGeom prst="ellipse">
            <a:avLst/>
          </a:prstGeom>
          <a:solidFill>
            <a:srgbClr val="00B0F0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NEX ERA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56D9ECEE-839C-AF93-57B2-204DEAC17FBB}"/>
              </a:ext>
            </a:extLst>
          </p:cNvPr>
          <p:cNvSpPr/>
          <p:nvPr/>
        </p:nvSpPr>
        <p:spPr>
          <a:xfrm>
            <a:off x="814907" y="2542538"/>
            <a:ext cx="5407589" cy="697328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0D953169-6CA8-7886-750D-349D1BB92E29}"/>
              </a:ext>
            </a:extLst>
          </p:cNvPr>
          <p:cNvSpPr/>
          <p:nvPr/>
        </p:nvSpPr>
        <p:spPr>
          <a:xfrm>
            <a:off x="12058812" y="2419657"/>
            <a:ext cx="5407590" cy="716972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8D361FAD-FBDB-8AB4-3F55-D81CA92E7C61}"/>
              </a:ext>
            </a:extLst>
          </p:cNvPr>
          <p:cNvSpPr/>
          <p:nvPr/>
        </p:nvSpPr>
        <p:spPr>
          <a:xfrm>
            <a:off x="6508655" y="2542538"/>
            <a:ext cx="5185513" cy="70468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1B7F71-B223-334D-93F6-447B8D2CBBE4}"/>
              </a:ext>
            </a:extLst>
          </p:cNvPr>
          <p:cNvSpPr txBox="1"/>
          <p:nvPr/>
        </p:nvSpPr>
        <p:spPr>
          <a:xfrm>
            <a:off x="1035137" y="2741945"/>
            <a:ext cx="5002418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IN" sz="2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Cost Setup: </a:t>
            </a:r>
            <a:r>
              <a:rPr lang="en-IN" sz="2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open-source Python stacks &amp; lightweight local models, eliminating heavy cloud licensing fees. </a:t>
            </a:r>
          </a:p>
          <a:p>
            <a:pPr lvl="0"/>
            <a:endParaRPr lang="en-IN" sz="2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⚙️ </a:t>
            </a:r>
            <a:r>
              <a:rPr lang="en-IN" sz="2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Reusability</a:t>
            </a:r>
            <a:r>
              <a:rPr lang="en-IN" sz="2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Fits existing institutional microphones &amp; telecom lines without requiring new hardware installations. </a:t>
            </a:r>
          </a:p>
          <a:p>
            <a:pPr lvl="0"/>
            <a:endParaRPr lang="en-IN" sz="2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📈 </a:t>
            </a:r>
            <a:r>
              <a:rPr lang="en-IN" sz="2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Deployment: </a:t>
            </a:r>
            <a:r>
              <a:rPr lang="en-IN" sz="2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in key portals initially &amp; gradually expanded enterprise-wide across institutions as needed. </a:t>
            </a:r>
          </a:p>
          <a:p>
            <a:pPr lvl="0"/>
            <a:endParaRPr lang="en-IN" sz="2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  <a:r>
              <a:rPr lang="en-IN" sz="2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Authority Integration: </a:t>
            </a:r>
            <a:r>
              <a:rPr lang="en-IN" sz="2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live risk scoring, real-time alerts, and auto-transaction blocks for seamless administrative oversight.</a:t>
            </a:r>
          </a:p>
          <a:p>
            <a:endParaRPr lang="en-IN" sz="2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8E0C6A-BED8-069F-DF74-50A578727265}"/>
              </a:ext>
            </a:extLst>
          </p:cNvPr>
          <p:cNvSpPr txBox="1"/>
          <p:nvPr/>
        </p:nvSpPr>
        <p:spPr>
          <a:xfrm>
            <a:off x="6727850" y="2825695"/>
            <a:ext cx="4717956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IN" sz="2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🔍 </a:t>
            </a:r>
            <a:r>
              <a:rPr lang="en-IN" sz="2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Proven Concept: </a:t>
            </a:r>
            <a:r>
              <a:rPr lang="en-IN" sz="2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standard acoustic benchmarks (ASVspoof) and WebSocket pipelines, demonstrating clear technical validity. </a:t>
            </a:r>
          </a:p>
          <a:p>
            <a:pPr lvl="0" algn="just"/>
            <a:endParaRPr lang="en-IN" sz="2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🤝</a:t>
            </a:r>
            <a:r>
              <a:rPr lang="en-IN" sz="2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Builds Trust: </a:t>
            </a:r>
            <a:r>
              <a:rPr lang="en-IN" sz="2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verification minimizes human error while transparent, log-backed call evaluations provide proof. </a:t>
            </a:r>
          </a:p>
          <a:p>
            <a:pPr lvl="0" algn="just"/>
            <a:endParaRPr lang="en-IN" sz="2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👤 </a:t>
            </a:r>
            <a:r>
              <a:rPr lang="en-IN" sz="2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Guarantees Accountability: </a:t>
            </a:r>
            <a:r>
              <a:rPr lang="en-IN" sz="2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Fosters institutional transparency through detailed logs, session audit trails, and performance analytics. </a:t>
            </a:r>
          </a:p>
          <a:p>
            <a:pPr lvl="0" algn="just"/>
            <a:endParaRPr lang="en-IN" sz="2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👥 </a:t>
            </a:r>
            <a:r>
              <a:rPr lang="en-IN" sz="2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Engagement: </a:t>
            </a:r>
            <a:r>
              <a:rPr lang="en-IN" sz="2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dashboards &amp; threat alerts keep administrators actively engaged for rapid response to vishing attacks. </a:t>
            </a:r>
          </a:p>
          <a:p>
            <a:pPr algn="just"/>
            <a:endParaRPr lang="en-IN" sz="2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B2E91-58BD-89E5-C6FD-90283E668646}"/>
              </a:ext>
            </a:extLst>
          </p:cNvPr>
          <p:cNvSpPr txBox="1"/>
          <p:nvPr/>
        </p:nvSpPr>
        <p:spPr>
          <a:xfrm>
            <a:off x="12317631" y="2831840"/>
            <a:ext cx="496449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🛡️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Reduction: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real-time voice monitoring to significantly reduce operational costs and eliminate financial fraud losses. </a:t>
            </a:r>
          </a:p>
          <a:p>
            <a:pPr lvl="0"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⚡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Deploys live liveness checks and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acoustic tracking to instantly intercept synthesized deepfake audio. </a:t>
            </a:r>
          </a:p>
          <a:p>
            <a:pPr lvl="0"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🏢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Scalability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Creates a direct, scalable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securing banks, telecom providers, &amp; institutions against impersonation. 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AB296F-C894-5AD4-55FC-05456486A3D9}"/>
              </a:ext>
            </a:extLst>
          </p:cNvPr>
          <p:cNvSpPr txBox="1"/>
          <p:nvPr/>
        </p:nvSpPr>
        <p:spPr>
          <a:xfrm>
            <a:off x="1523581" y="1686889"/>
            <a:ext cx="3881117" cy="585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2400" b="1" dirty="0">
                <a:solidFill>
                  <a:srgbClr val="464A51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FEASIBILITY</a:t>
            </a: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 </a:t>
            </a:r>
            <a:r>
              <a:rPr lang="en-US" sz="2400" b="1" dirty="0">
                <a:solidFill>
                  <a:srgbClr val="464A51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ANALYSIS</a:t>
            </a:r>
          </a:p>
        </p:txBody>
      </p:sp>
      <p:sp>
        <p:nvSpPr>
          <p:cNvPr id="10" name="TextBox 40">
            <a:extLst>
              <a:ext uri="{FF2B5EF4-FFF2-40B4-BE49-F238E27FC236}">
                <a16:creationId xmlns:a16="http://schemas.microsoft.com/office/drawing/2014/main" id="{B66B12F8-F04D-5438-E90B-6322EE6B2187}"/>
              </a:ext>
            </a:extLst>
          </p:cNvPr>
          <p:cNvSpPr txBox="1"/>
          <p:nvPr/>
        </p:nvSpPr>
        <p:spPr>
          <a:xfrm>
            <a:off x="7374916" y="1708776"/>
            <a:ext cx="3505200" cy="485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08"/>
              </a:lnSpc>
            </a:pPr>
            <a:r>
              <a:rPr lang="en-US" sz="2400" b="1" dirty="0">
                <a:solidFill>
                  <a:srgbClr val="464A51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VIABILITY ANALYSIS</a:t>
            </a:r>
          </a:p>
        </p:txBody>
      </p:sp>
      <p:sp>
        <p:nvSpPr>
          <p:cNvPr id="12" name="TextBox 41">
            <a:extLst>
              <a:ext uri="{FF2B5EF4-FFF2-40B4-BE49-F238E27FC236}">
                <a16:creationId xmlns:a16="http://schemas.microsoft.com/office/drawing/2014/main" id="{148F55D6-89E4-F824-E229-11549AF2D4DE}"/>
              </a:ext>
            </a:extLst>
          </p:cNvPr>
          <p:cNvSpPr txBox="1"/>
          <p:nvPr/>
        </p:nvSpPr>
        <p:spPr>
          <a:xfrm>
            <a:off x="13010007" y="1686889"/>
            <a:ext cx="3505200" cy="500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2400" b="1" dirty="0">
                <a:solidFill>
                  <a:srgbClr val="464A51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BUSINESS POTENTIAL</a:t>
            </a:r>
          </a:p>
        </p:txBody>
      </p:sp>
      <p:grpSp>
        <p:nvGrpSpPr>
          <p:cNvPr id="13" name="Group 18">
            <a:extLst>
              <a:ext uri="{FF2B5EF4-FFF2-40B4-BE49-F238E27FC236}">
                <a16:creationId xmlns:a16="http://schemas.microsoft.com/office/drawing/2014/main" id="{8C9A229C-6666-C9A9-5933-0EF7AE3DB90A}"/>
              </a:ext>
            </a:extLst>
          </p:cNvPr>
          <p:cNvGrpSpPr/>
          <p:nvPr/>
        </p:nvGrpSpPr>
        <p:grpSpPr>
          <a:xfrm>
            <a:off x="6768132" y="1777291"/>
            <a:ext cx="541784" cy="460890"/>
            <a:chOff x="0" y="0"/>
            <a:chExt cx="840969" cy="797878"/>
          </a:xfrm>
        </p:grpSpPr>
        <p:sp>
          <p:nvSpPr>
            <p:cNvPr id="14" name="Freeform 19">
              <a:extLst>
                <a:ext uri="{FF2B5EF4-FFF2-40B4-BE49-F238E27FC236}">
                  <a16:creationId xmlns:a16="http://schemas.microsoft.com/office/drawing/2014/main" id="{6472921E-47BA-CABE-D779-880591C77281}"/>
                </a:ext>
              </a:extLst>
            </p:cNvPr>
            <p:cNvSpPr/>
            <p:nvPr/>
          </p:nvSpPr>
          <p:spPr>
            <a:xfrm>
              <a:off x="201169" y="63500"/>
              <a:ext cx="576075" cy="545469"/>
            </a:xfrm>
            <a:custGeom>
              <a:avLst/>
              <a:gdLst/>
              <a:ahLst/>
              <a:cxnLst/>
              <a:rect l="l" t="t" r="r" b="b"/>
              <a:pathLst>
                <a:path w="576075" h="545469">
                  <a:moveTo>
                    <a:pt x="561724" y="0"/>
                  </a:moveTo>
                  <a:cubicBezTo>
                    <a:pt x="558549" y="0"/>
                    <a:pt x="555374" y="762"/>
                    <a:pt x="551818" y="2286"/>
                  </a:cubicBezTo>
                  <a:cubicBezTo>
                    <a:pt x="494541" y="26925"/>
                    <a:pt x="441327" y="58167"/>
                    <a:pt x="394972" y="100077"/>
                  </a:cubicBezTo>
                  <a:cubicBezTo>
                    <a:pt x="319407" y="168531"/>
                    <a:pt x="254128" y="246128"/>
                    <a:pt x="194819" y="328806"/>
                  </a:cubicBezTo>
                  <a:cubicBezTo>
                    <a:pt x="187961" y="338458"/>
                    <a:pt x="181103" y="348237"/>
                    <a:pt x="174499" y="357635"/>
                  </a:cubicBezTo>
                  <a:cubicBezTo>
                    <a:pt x="164974" y="343030"/>
                    <a:pt x="156084" y="328425"/>
                    <a:pt x="146178" y="314455"/>
                  </a:cubicBezTo>
                  <a:cubicBezTo>
                    <a:pt x="134367" y="297691"/>
                    <a:pt x="120143" y="283593"/>
                    <a:pt x="102363" y="272671"/>
                  </a:cubicBezTo>
                  <a:cubicBezTo>
                    <a:pt x="92076" y="266321"/>
                    <a:pt x="80391" y="263527"/>
                    <a:pt x="68580" y="263527"/>
                  </a:cubicBezTo>
                  <a:cubicBezTo>
                    <a:pt x="45720" y="263527"/>
                    <a:pt x="22606" y="274195"/>
                    <a:pt x="9906" y="290959"/>
                  </a:cubicBezTo>
                  <a:cubicBezTo>
                    <a:pt x="4445" y="298072"/>
                    <a:pt x="762" y="305946"/>
                    <a:pt x="0" y="314836"/>
                  </a:cubicBezTo>
                  <a:cubicBezTo>
                    <a:pt x="4064" y="314836"/>
                    <a:pt x="8001" y="314709"/>
                    <a:pt x="11811" y="314709"/>
                  </a:cubicBezTo>
                  <a:cubicBezTo>
                    <a:pt x="14097" y="314709"/>
                    <a:pt x="16256" y="314709"/>
                    <a:pt x="18415" y="314963"/>
                  </a:cubicBezTo>
                  <a:cubicBezTo>
                    <a:pt x="36068" y="316487"/>
                    <a:pt x="46863" y="327790"/>
                    <a:pt x="55880" y="341633"/>
                  </a:cubicBezTo>
                  <a:cubicBezTo>
                    <a:pt x="74295" y="369573"/>
                    <a:pt x="88774" y="399545"/>
                    <a:pt x="101728" y="430152"/>
                  </a:cubicBezTo>
                  <a:cubicBezTo>
                    <a:pt x="117222" y="466983"/>
                    <a:pt x="133605" y="503305"/>
                    <a:pt x="154306" y="537468"/>
                  </a:cubicBezTo>
                  <a:cubicBezTo>
                    <a:pt x="157608" y="542802"/>
                    <a:pt x="161291" y="545469"/>
                    <a:pt x="164974" y="545469"/>
                  </a:cubicBezTo>
                  <a:cubicBezTo>
                    <a:pt x="168657" y="545469"/>
                    <a:pt x="172213" y="542929"/>
                    <a:pt x="175388" y="537849"/>
                  </a:cubicBezTo>
                  <a:cubicBezTo>
                    <a:pt x="191390" y="511941"/>
                    <a:pt x="207265" y="485906"/>
                    <a:pt x="223267" y="459998"/>
                  </a:cubicBezTo>
                  <a:cubicBezTo>
                    <a:pt x="264796" y="392814"/>
                    <a:pt x="301373" y="322456"/>
                    <a:pt x="350141" y="259971"/>
                  </a:cubicBezTo>
                  <a:cubicBezTo>
                    <a:pt x="374398" y="228983"/>
                    <a:pt x="398020" y="197360"/>
                    <a:pt x="423420" y="167261"/>
                  </a:cubicBezTo>
                  <a:cubicBezTo>
                    <a:pt x="467871" y="114682"/>
                    <a:pt x="516766" y="66422"/>
                    <a:pt x="566804" y="19178"/>
                  </a:cubicBezTo>
                  <a:cubicBezTo>
                    <a:pt x="569852" y="16257"/>
                    <a:pt x="573027" y="13336"/>
                    <a:pt x="576075" y="10415"/>
                  </a:cubicBezTo>
                  <a:lnTo>
                    <a:pt x="576075" y="6096"/>
                  </a:lnTo>
                  <a:cubicBezTo>
                    <a:pt x="571376" y="1905"/>
                    <a:pt x="566550" y="0"/>
                    <a:pt x="561597" y="0"/>
                  </a:cubicBezTo>
                  <a:close/>
                </a:path>
              </a:pathLst>
            </a:custGeom>
            <a:solidFill>
              <a:srgbClr val="464A51"/>
            </a:solidFill>
          </p:spPr>
        </p:sp>
        <p:sp>
          <p:nvSpPr>
            <p:cNvPr id="15" name="Freeform 20">
              <a:extLst>
                <a:ext uri="{FF2B5EF4-FFF2-40B4-BE49-F238E27FC236}">
                  <a16:creationId xmlns:a16="http://schemas.microsoft.com/office/drawing/2014/main" id="{3B4B4D02-4563-978B-3BFF-905EF0A5CA9A}"/>
                </a:ext>
              </a:extLst>
            </p:cNvPr>
            <p:cNvSpPr/>
            <p:nvPr/>
          </p:nvSpPr>
          <p:spPr>
            <a:xfrm>
              <a:off x="63500" y="109221"/>
              <a:ext cx="625224" cy="625098"/>
            </a:xfrm>
            <a:custGeom>
              <a:avLst/>
              <a:gdLst/>
              <a:ahLst/>
              <a:cxnLst/>
              <a:rect l="l" t="t" r="r" b="b"/>
              <a:pathLst>
                <a:path w="625224" h="625098">
                  <a:moveTo>
                    <a:pt x="586743" y="162180"/>
                  </a:moveTo>
                  <a:lnTo>
                    <a:pt x="538102" y="210821"/>
                  </a:lnTo>
                  <a:cubicBezTo>
                    <a:pt x="552199" y="241809"/>
                    <a:pt x="559946" y="276227"/>
                    <a:pt x="559946" y="312549"/>
                  </a:cubicBezTo>
                  <a:cubicBezTo>
                    <a:pt x="559946" y="449202"/>
                    <a:pt x="449202" y="559820"/>
                    <a:pt x="312676" y="559820"/>
                  </a:cubicBezTo>
                  <a:cubicBezTo>
                    <a:pt x="176150" y="559820"/>
                    <a:pt x="65279" y="449202"/>
                    <a:pt x="65279" y="312549"/>
                  </a:cubicBezTo>
                  <a:cubicBezTo>
                    <a:pt x="65279" y="175896"/>
                    <a:pt x="176023" y="65278"/>
                    <a:pt x="312549" y="65278"/>
                  </a:cubicBezTo>
                  <a:cubicBezTo>
                    <a:pt x="346712" y="65278"/>
                    <a:pt x="379224" y="72263"/>
                    <a:pt x="408815" y="84709"/>
                  </a:cubicBezTo>
                  <a:lnTo>
                    <a:pt x="457838" y="35687"/>
                  </a:lnTo>
                  <a:cubicBezTo>
                    <a:pt x="414531" y="12827"/>
                    <a:pt x="365000" y="0"/>
                    <a:pt x="312676" y="0"/>
                  </a:cubicBezTo>
                  <a:cubicBezTo>
                    <a:pt x="139955" y="0"/>
                    <a:pt x="0" y="139955"/>
                    <a:pt x="0" y="312549"/>
                  </a:cubicBezTo>
                  <a:cubicBezTo>
                    <a:pt x="0" y="485143"/>
                    <a:pt x="139955" y="625098"/>
                    <a:pt x="312676" y="625098"/>
                  </a:cubicBezTo>
                  <a:cubicBezTo>
                    <a:pt x="485397" y="625098"/>
                    <a:pt x="625225" y="485143"/>
                    <a:pt x="625225" y="312549"/>
                  </a:cubicBezTo>
                  <a:cubicBezTo>
                    <a:pt x="625225" y="258066"/>
                    <a:pt x="611255" y="206757"/>
                    <a:pt x="586743" y="162180"/>
                  </a:cubicBezTo>
                  <a:close/>
                </a:path>
              </a:pathLst>
            </a:custGeom>
            <a:solidFill>
              <a:srgbClr val="464A51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2514924" y="1714867"/>
            <a:ext cx="402793" cy="585739"/>
            <a:chOff x="0" y="0"/>
            <a:chExt cx="1498600" cy="15875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98600" cy="1587500"/>
            </a:xfrm>
            <a:custGeom>
              <a:avLst/>
              <a:gdLst/>
              <a:ahLst/>
              <a:cxnLst/>
              <a:rect l="l" t="t" r="r" b="b"/>
              <a:pathLst>
                <a:path w="1498600" h="1587500">
                  <a:moveTo>
                    <a:pt x="0" y="0"/>
                  </a:moveTo>
                  <a:lnTo>
                    <a:pt x="1498600" y="0"/>
                  </a:lnTo>
                  <a:lnTo>
                    <a:pt x="1498600" y="1587500"/>
                  </a:lnTo>
                  <a:lnTo>
                    <a:pt x="0" y="158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4F1991F8-8F64-71AD-E6EB-51EA322BD6D7}"/>
              </a:ext>
            </a:extLst>
          </p:cNvPr>
          <p:cNvSpPr/>
          <p:nvPr/>
        </p:nvSpPr>
        <p:spPr>
          <a:xfrm>
            <a:off x="1146890" y="1895507"/>
            <a:ext cx="323664" cy="289075"/>
          </a:xfrm>
          <a:prstGeom prst="star5">
            <a:avLst>
              <a:gd name="adj" fmla="val 15830"/>
              <a:gd name="hf" fmla="val 105146"/>
              <a:gd name="vf" fmla="val 1105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36">
            <a:extLst>
              <a:ext uri="{FF2B5EF4-FFF2-40B4-BE49-F238E27FC236}">
                <a16:creationId xmlns:a16="http://schemas.microsoft.com/office/drawing/2014/main" id="{EF47DBB3-6D09-F22D-AB1B-DA4776091DBB}"/>
              </a:ext>
            </a:extLst>
          </p:cNvPr>
          <p:cNvSpPr txBox="1"/>
          <p:nvPr/>
        </p:nvSpPr>
        <p:spPr>
          <a:xfrm>
            <a:off x="4876800" y="464980"/>
            <a:ext cx="9335959" cy="81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63"/>
              </a:lnSpc>
            </a:pPr>
            <a:r>
              <a:rPr lang="en-US" sz="4400" b="1" dirty="0">
                <a:solidFill>
                  <a:srgbClr val="1F497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IMPACTS AND BENEFITS</a:t>
            </a:r>
          </a:p>
        </p:txBody>
      </p:sp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EAE526AD-CA89-8E30-9BD3-6762E37AB64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32277" y="464980"/>
            <a:ext cx="2440645" cy="939424"/>
          </a:xfrm>
          <a:prstGeom prst="ellipse">
            <a:avLst/>
          </a:prstGeom>
          <a:solidFill>
            <a:srgbClr val="00B0F0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NEX ERA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BF0474C-2F52-327E-DA23-1C8693A30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631" y="195661"/>
            <a:ext cx="2620049" cy="1292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227DC7-DAE6-1EA2-0FEA-33B4D2666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277" y="2006504"/>
            <a:ext cx="523875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873604-6CCE-4AE5-CA77-FF6573D612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6973" y="2022481"/>
            <a:ext cx="5238750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195C0D-2F70-AA19-902D-7C32D16179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2006504"/>
            <a:ext cx="687817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3DB410-2B6D-453C-9250-12EB24FEFE92}"/>
              </a:ext>
            </a:extLst>
          </p:cNvPr>
          <p:cNvSpPr txBox="1"/>
          <p:nvPr/>
        </p:nvSpPr>
        <p:spPr>
          <a:xfrm>
            <a:off x="3048000" y="571500"/>
            <a:ext cx="110367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0F77C8-E35F-FA3F-C764-85DBA58192A5}"/>
              </a:ext>
            </a:extLst>
          </p:cNvPr>
          <p:cNvSpPr txBox="1"/>
          <p:nvPr/>
        </p:nvSpPr>
        <p:spPr>
          <a:xfrm>
            <a:off x="951271" y="1790700"/>
            <a:ext cx="8954729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&amp; Technical References</a:t>
            </a:r>
          </a:p>
          <a:p>
            <a:pPr algn="just"/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ASVspoof 2021 Benchmark</a:t>
            </a:r>
          </a:p>
          <a:p>
            <a:pPr lvl="0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Paper: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Yamagishi et al.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"ASVspoof 2021: Accelerating Progress in Spoofed and Deepfake Speech Detection"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(IEEE / ISCA).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AASIST &amp; 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RawNet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Architectures</a:t>
            </a:r>
          </a:p>
          <a:p>
            <a:pPr lvl="0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Paper: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Tak et al.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"End-to-End Spectro-Temporal Graph Attention Networks for Speaker Verification Anti-Spoofing and Speech Deepfake Detection"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 (ISCA /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arXiv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).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Wav2Vec 2.0 Self-Supervised Speech Representation</a:t>
            </a:r>
          </a:p>
          <a:p>
            <a:pPr lvl="0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Paper: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Baevski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 et al.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"wav2vec 2.0: A Framework for Self-Supervised Learning of Speech Representations"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 (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NeurIPS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).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&amp; Advisory Directives</a:t>
            </a: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CERT-In (Indian Computer Emergency Response Team):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CERT-In Official Cyber Security Advisories &amp; Guidelines Portal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Reserve Bank of India (RBI):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RBI Cyber Security Framework and Master Directions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2867886A-0130-8826-E1CE-0D5940105C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32277" y="464980"/>
            <a:ext cx="2440645" cy="939424"/>
          </a:xfrm>
          <a:prstGeom prst="ellipse">
            <a:avLst/>
          </a:prstGeom>
          <a:solidFill>
            <a:srgbClr val="00B0F0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NEX ERA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44A6A1-3B1A-7D12-3261-4A816039D6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11631" y="195661"/>
            <a:ext cx="2620049" cy="1292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1E3718-0D89-424B-8495-948990CF69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5442" y="1790699"/>
            <a:ext cx="7766238" cy="699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131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996</TotalTime>
  <Words>482</Words>
  <Application>Microsoft Office PowerPoint</Application>
  <PresentationFormat>Custom</PresentationFormat>
  <Paragraphs>78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Wingdings</vt:lpstr>
      <vt:lpstr>Times New Roman MT</vt:lpstr>
      <vt:lpstr>Aptos</vt:lpstr>
      <vt:lpstr>Calibri</vt:lpstr>
      <vt:lpstr>Arimo Bold</vt:lpstr>
      <vt:lpstr>Garamond Bold</vt:lpstr>
      <vt:lpstr>CanvaSansSC-Regular</vt:lpstr>
      <vt:lpstr>Times New Roman MT Bold</vt:lpstr>
      <vt:lpstr>Times New Roman Bold</vt:lpstr>
      <vt:lpstr>Arial</vt:lpstr>
      <vt:lpstr>Times New Roman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 ID – 26104</dc:title>
  <dc:creator>Win-10</dc:creator>
  <cp:lastModifiedBy>seematakale81@outlook.com</cp:lastModifiedBy>
  <cp:revision>39</cp:revision>
  <dcterms:created xsi:type="dcterms:W3CDTF">2006-08-16T00:00:00Z</dcterms:created>
  <dcterms:modified xsi:type="dcterms:W3CDTF">2026-09-25T20:01:12Z</dcterms:modified>
  <dc:identifier>DAHUcztZNHU</dc:identifier>
</cp:coreProperties>
</file>